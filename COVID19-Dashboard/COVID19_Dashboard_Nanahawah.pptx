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2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3642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This presentation covers my COVID-19 dashboard project built during my AnalystLab Africa internship.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OWID dataset is one of the most comprehensive COVID datasets available. We reduced 67 columns to 12 key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pandemic created an information crisis. Analysts needed tools to make sense of millions of rows of daily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KPIs were created as DAX measures in a dedicated _Measures table in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should show your actual dashboard. Take a screenshot from Power BI and paste it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six most important insights from the dashboard. Each one tells a story about how COVID-19 impacted the world differently.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recommendations are grounded in the data insights from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challenge we faced made us better analysts. Problem-solving is a core data analytics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thanking AnalystLab Africa for the opportunity and your audience for their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2011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ANALYTICS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Analysis of the COVID-19 Pandemic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Our World in Data (OWID) Dataset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3337560"/>
            <a:ext cx="27432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Nanahawah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Internship  |  Tool: Power BI  |  Dataset: OWID COVID-19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0D1B4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World in Data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8105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OWID COVID-19 Dataset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14600" y="9144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0D1B4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960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429,000+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14600" y="1508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14600" y="18105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records per country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0D1B4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960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1508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Used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18105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from 67 columns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12280" y="9144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0D1B4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960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12280" y="1508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12280" y="18105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pandemic timeline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Retained After Cleaning: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1920240" cy="301752"/>
          </a:xfrm>
          <a:prstGeom prst="roundRect">
            <a:avLst>
              <a:gd name="adj" fmla="val 15152"/>
            </a:avLst>
          </a:prstGeom>
          <a:solidFill>
            <a:srgbClr val="112244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2608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iso_code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06040" y="2926080"/>
            <a:ext cx="1920240" cy="301752"/>
          </a:xfrm>
          <a:prstGeom prst="roundRect">
            <a:avLst>
              <a:gd name="adj" fmla="val 15152"/>
            </a:avLst>
          </a:prstGeom>
          <a:solidFill>
            <a:srgbClr val="112244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292608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926080"/>
            <a:ext cx="1920240" cy="301752"/>
          </a:xfrm>
          <a:prstGeom prst="roundRect">
            <a:avLst>
              <a:gd name="adj" fmla="val 15152"/>
            </a:avLst>
          </a:prstGeom>
          <a:solidFill>
            <a:srgbClr val="112244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92608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03720" y="2926080"/>
            <a:ext cx="1920240" cy="301752"/>
          </a:xfrm>
          <a:prstGeom prst="roundRect">
            <a:avLst>
              <a:gd name="adj" fmla="val 15152"/>
            </a:avLst>
          </a:prstGeom>
          <a:solidFill>
            <a:srgbClr val="112244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292608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1920240" cy="301752"/>
          </a:xfrm>
          <a:prstGeom prst="roundRect">
            <a:avLst>
              <a:gd name="adj" fmla="val 15152"/>
            </a:avLst>
          </a:prstGeom>
          <a:solidFill>
            <a:srgbClr val="112244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33756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total_cases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06040" y="3337560"/>
            <a:ext cx="1920240" cy="301752"/>
          </a:xfrm>
          <a:prstGeom prst="roundRect">
            <a:avLst>
              <a:gd name="adj" fmla="val 15152"/>
            </a:avLst>
          </a:prstGeom>
          <a:solidFill>
            <a:srgbClr val="112244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06040" y="333756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new_cases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337560"/>
            <a:ext cx="1920240" cy="301752"/>
          </a:xfrm>
          <a:prstGeom prst="roundRect">
            <a:avLst>
              <a:gd name="adj" fmla="val 15152"/>
            </a:avLst>
          </a:prstGeom>
          <a:solidFill>
            <a:srgbClr val="112244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33756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total_deaths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03720" y="3337560"/>
            <a:ext cx="1920240" cy="301752"/>
          </a:xfrm>
          <a:prstGeom prst="roundRect">
            <a:avLst>
              <a:gd name="adj" fmla="val 15152"/>
            </a:avLst>
          </a:prstGeom>
          <a:solidFill>
            <a:srgbClr val="112244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333756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new_deaths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749040"/>
            <a:ext cx="1920240" cy="301752"/>
          </a:xfrm>
          <a:prstGeom prst="roundRect">
            <a:avLst>
              <a:gd name="adj" fmla="val 15152"/>
            </a:avLst>
          </a:prstGeom>
          <a:solidFill>
            <a:srgbClr val="112244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74904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total_vaccinations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06040" y="3749040"/>
            <a:ext cx="1920240" cy="301752"/>
          </a:xfrm>
          <a:prstGeom prst="roundRect">
            <a:avLst>
              <a:gd name="adj" fmla="val 15152"/>
            </a:avLst>
          </a:prstGeom>
          <a:solidFill>
            <a:srgbClr val="112244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374904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people_vaccinated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749040"/>
            <a:ext cx="1920240" cy="301752"/>
          </a:xfrm>
          <a:prstGeom prst="roundRect">
            <a:avLst>
              <a:gd name="adj" fmla="val 15152"/>
            </a:avLst>
          </a:prstGeom>
          <a:solidFill>
            <a:srgbClr val="112244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74904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people_fully_vaccinated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903720" y="3749040"/>
            <a:ext cx="1920240" cy="301752"/>
          </a:xfrm>
          <a:prstGeom prst="roundRect">
            <a:avLst>
              <a:gd name="adj" fmla="val 15152"/>
            </a:avLst>
          </a:prstGeom>
          <a:solidFill>
            <a:srgbClr val="112244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374904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generated massive amounts of data, but decision-makers needed clear, visual answers to act fast.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0D1B4B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916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Which countries were hit hardest?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69164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0D1B4B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6916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How did cases grow over time?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0D1B4B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6060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  What was the global death rate?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60604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0D1B4B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26060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  Which continent vaccinated the most?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0D1B4B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5204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When did cases peak globally?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352044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0D1B4B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35204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How did deaths compare by region?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was built to answer all these questions in one interactive view.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Defined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0D1B4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05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5361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8105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SUM(total_cases)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2057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confirmed cases globally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54680" y="9144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0D1B4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005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32bn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54680" y="15361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Deaths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54680" y="18105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SUM(total_deaths)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54680" y="2057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deaths across all countries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9144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0D1B4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005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1.12%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35040" y="15361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18105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DIVIDE(Deaths, Cases)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35040" y="2057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cases that resulted in death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7432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0D1B4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834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45T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74320" y="33649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Vaccinations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36393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SUM(total_vaccinations)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3886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vaccine doses administered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54680" y="27432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0D1B4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2834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154680" y="33649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Countries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54680" y="36393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DISTINCTCOUNT(location)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54680" y="3886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countries/regions tracked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544483"/>
            <a:ext cx="8412480" cy="3931920"/>
          </a:xfrm>
          <a:prstGeom prst="roundRect">
            <a:avLst>
              <a:gd name="adj" fmla="val 2326"/>
            </a:avLst>
          </a:prstGeom>
          <a:solidFill>
            <a:srgbClr val="0D1B4B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Dashboard Screenshot Here]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Power BI dashboard screenshot into this slide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617720"/>
            <a:ext cx="2377440" cy="228600"/>
          </a:xfrm>
          <a:prstGeom prst="roundRect">
            <a:avLst>
              <a:gd name="adj" fmla="val 16000"/>
            </a:avLst>
          </a:prstGeom>
          <a:solidFill>
            <a:srgbClr val="112244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617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5 KPI Cards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4640580"/>
            <a:ext cx="2377440" cy="228600"/>
          </a:xfrm>
          <a:prstGeom prst="roundRect">
            <a:avLst>
              <a:gd name="adj" fmla="val 16000"/>
            </a:avLst>
          </a:prstGeom>
          <a:solidFill>
            <a:srgbClr val="112244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4617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2 Line Charts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0" y="4617720"/>
            <a:ext cx="2377440" cy="228600"/>
          </a:xfrm>
          <a:prstGeom prst="roundRect">
            <a:avLst>
              <a:gd name="adj" fmla="val 16000"/>
            </a:avLst>
          </a:prstGeom>
          <a:solidFill>
            <a:srgbClr val="112244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4617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1 Bar Chart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2377440" cy="228600"/>
          </a:xfrm>
          <a:prstGeom prst="roundRect">
            <a:avLst>
              <a:gd name="adj" fmla="val 16000"/>
            </a:avLst>
          </a:prstGeom>
          <a:solidFill>
            <a:srgbClr val="112244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892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1 Donut Chart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4892040"/>
            <a:ext cx="2377440" cy="228600"/>
          </a:xfrm>
          <a:prstGeom prst="roundRect">
            <a:avLst>
              <a:gd name="adj" fmla="val 16000"/>
            </a:avLst>
          </a:prstGeom>
          <a:solidFill>
            <a:srgbClr val="112244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4892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1 Column Chart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4892040"/>
            <a:ext cx="2377440" cy="228600"/>
          </a:xfrm>
          <a:prstGeom prst="roundRect">
            <a:avLst>
              <a:gd name="adj" fmla="val 16000"/>
            </a:avLst>
          </a:prstGeom>
          <a:solidFill>
            <a:srgbClr val="112244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4892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2 Slicers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992AF99-9E3A-95D5-937E-E4679910B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0079"/>
            <a:ext cx="8412480" cy="38009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0D1B4B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0058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Leads in Cases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United States recorded the highest total cases (~100bn cumulative), followed by China and India.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800600" y="91440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0D1B4B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40680" y="10058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Omicron Peak (2022)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40680" y="132588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new cases peaked dramatically in early 2022 at ~2bn/day, driven by the highly transmissible Omicron variant.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0D1B4B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3317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Death Rate: 1.12%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6517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confirmed COVID cases globally, approximately 1.12% resulted in death — varying significantly by country.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00600" y="224028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0D1B4B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40680" y="23317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Led Vaccinations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40680" y="26517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administered the most vaccine doses globally (4T+), reflecting its large population base.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56616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0D1B4B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36576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Europe: Highest Death Share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97764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accounted for ~29% of global deaths despite having a smaller population share than Asia.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356616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0D1B4B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40680" y="36576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 Countries Tracked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0680" y="397764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covers 255 locations including territories, providing a truly global picture of the pandemic.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0D1B4B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1033272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Africa's Vaccination Rate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34416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had the lowest vaccination coverage. Global health bodies should prioritize vaccine equity to protect vulnerable populations.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0D1B4B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574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1993392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European Health Systems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230428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strong healthcare, Europe had the highest death share. Investment in pandemic preparedness is critical for future outbreaks.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0D1B4B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175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43000" y="2953512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Infrastructure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326440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should invest in real-time health data systems to enable faster government response during future health crises.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0D1B4B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776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3913632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Coordination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422452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pandemic showed that no country is safe alone. WHO coordination and data sharing between nations must be improved.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0D1B4B"/>
          </a:solidFill>
          <a:ln w="9525">
            <a:solidFill>
              <a:srgbClr val="F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43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4444"/>
                </a:solidFill>
              </a:rPr>
              <a:t>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0332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Loading Issues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3440" y="105156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The JHU dataset had wide-format dates requiring unpivoting. Switched to OWID for a cleaner long-format structure.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26280" y="1097280"/>
            <a:ext cx="0" cy="548640"/>
          </a:xfrm>
          <a:prstGeom prst="line">
            <a:avLst/>
          </a:prstGeom>
          <a:noFill/>
          <a:ln w="12700">
            <a:solidFill>
              <a:srgbClr val="33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0332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0D1B4B"/>
          </a:solidFill>
          <a:ln w="9525">
            <a:solidFill>
              <a:srgbClr val="F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4444"/>
                </a:solidFill>
              </a:rPr>
              <a:t>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199339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Vaccination 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201168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93–94% of vaccination columns were empty (pre-vaccine period). Replaced nulls with 0 using Power Query.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26280" y="2057400"/>
            <a:ext cx="0" cy="548640"/>
          </a:xfrm>
          <a:prstGeom prst="line">
            <a:avLst/>
          </a:prstGeom>
          <a:noFill/>
          <a:ln w="12700">
            <a:solidFill>
              <a:srgbClr val="333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9933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0D1B4B"/>
          </a:solidFill>
          <a:ln w="9525">
            <a:solidFill>
              <a:srgbClr val="F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632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4444"/>
                </a:solidFill>
              </a:rPr>
              <a:t>⚠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295351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Location Rows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97180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'World', 'High-income countries' etc. inflated charts. Filtered by continent field to show only real countries.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26280" y="3017520"/>
            <a:ext cx="0" cy="548640"/>
          </a:xfrm>
          <a:prstGeom prst="line">
            <a:avLst/>
          </a:prstGeom>
          <a:noFill/>
          <a:ln w="12700">
            <a:solidFill>
              <a:srgbClr val="3333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9535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84048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0D1B4B"/>
          </a:solidFill>
          <a:ln w="9525">
            <a:solidFill>
              <a:srgbClr val="F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233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4444"/>
                </a:solidFill>
              </a:rPr>
              <a:t>⚠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391363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Rate Percentage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393192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Double-multiplication issue when combining DAX *100 with Power BI % format. Fixed by removing *100 from DAX.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26280" y="3977640"/>
            <a:ext cx="0" cy="548640"/>
          </a:xfrm>
          <a:prstGeom prst="line">
            <a:avLst/>
          </a:prstGeom>
          <a:noFill/>
          <a:ln w="12700">
            <a:solidFill>
              <a:srgbClr val="3333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9136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23774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9202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Raw data transformed into clear, actionable visual insights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233172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Power BI dashboard with 5 KPIs, 5 charts, and 2 interactive slicers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27432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Data cleaning, DAX measures, and professional dashboard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31546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Global COVID-19 trends uncovered across 255 countries (2020–2024)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3977640"/>
            <a:ext cx="36576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Nanahawah  |  AnalystLab Africa  |  #AnalystLabAfrica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878</Words>
  <Application>Microsoft Office PowerPoint</Application>
  <PresentationFormat>On-screen Show (16:9)</PresentationFormat>
  <Paragraphs>146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Global Analytics Dashboard</dc:title>
  <dc:subject>PptxGenJS Presentation</dc:subject>
  <dc:creator>Nanahawah</dc:creator>
  <cp:lastModifiedBy>Nanahawah Ajanaku</cp:lastModifiedBy>
  <cp:revision>2</cp:revision>
  <dcterms:created xsi:type="dcterms:W3CDTF">2026-06-24T21:43:47Z</dcterms:created>
  <dcterms:modified xsi:type="dcterms:W3CDTF">2026-06-25T01:26:47Z</dcterms:modified>
</cp:coreProperties>
</file>